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 (₹ Cr)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Jan'22</c:v>
                  </c:pt>
                  <c:pt idx="1">
                    <c:v>Jul'22</c:v>
                  </c:pt>
                  <c:pt idx="2">
                    <c:v>Jan'23</c:v>
                  </c:pt>
                  <c:pt idx="3">
                    <c:v>Jul'23</c:v>
                  </c:pt>
                  <c:pt idx="4">
                    <c:v>Jan'24</c:v>
                  </c:pt>
                  <c:pt idx="5">
                    <c:v>Jul'24</c:v>
                  </c:pt>
                  <c:pt idx="6">
                    <c:v>Jan'25</c:v>
                  </c:pt>
                  <c:pt idx="7">
                    <c:v>Jul'25</c:v>
                  </c:pt>
                  <c:pt idx="8">
                    <c:v>Dec'25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11517</c:v>
                </c:pt>
                <c:pt idx="1">
                  <c:v>12140</c:v>
                </c:pt>
                <c:pt idx="2">
                  <c:v>13856</c:v>
                </c:pt>
                <c:pt idx="3">
                  <c:v>15245</c:v>
                </c:pt>
                <c:pt idx="4">
                  <c:v>19187</c:v>
                </c:pt>
                <c:pt idx="5">
                  <c:v>23222</c:v>
                </c:pt>
                <c:pt idx="6">
                  <c:v>26459</c:v>
                </c:pt>
                <c:pt idx="7">
                  <c:v>29529</c:v>
                </c:pt>
                <c:pt idx="8">
                  <c:v>31002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3A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3A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333E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SBI MF</c:v>
                  </c:pt>
                  <c:pt idx="1">
                    <c:v>ICICI Pru</c:v>
                  </c:pt>
                  <c:pt idx="2">
                    <c:v>HDFC MF</c:v>
                  </c:pt>
                  <c:pt idx="3">
                    <c:v>Nippon</c:v>
                  </c:pt>
                  <c:pt idx="4">
                    <c:v>Kotak MF</c:v>
                  </c:pt>
                  <c:pt idx="5">
                    <c:v>Axis MF</c:v>
                  </c:pt>
                  <c:pt idx="6">
                    <c:v>ABSL MF</c:v>
                  </c:pt>
                  <c:pt idx="7">
                    <c:v>UTI MF</c:v>
                  </c:pt>
                  <c:pt idx="8">
                    <c:v>Mirae</c:v>
                  </c:pt>
                  <c:pt idx="9">
                    <c:v>DSP MF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12.5</c:v>
                </c:pt>
                <c:pt idx="1">
                  <c:v>10.74</c:v>
                </c:pt>
                <c:pt idx="2">
                  <c:v>9.3</c:v>
                </c:pt>
                <c:pt idx="3">
                  <c:v>7</c:v>
                </c:pt>
                <c:pt idx="4">
                  <c:v>5.8</c:v>
                </c:pt>
                <c:pt idx="5">
                  <c:v>4.8</c:v>
                </c:pt>
                <c:pt idx="6">
                  <c:v>4.2</c:v>
                </c:pt>
                <c:pt idx="7">
                  <c:v>3.9</c:v>
                </c:pt>
                <c:pt idx="8">
                  <c:v>2.8</c:v>
                </c:pt>
                <c:pt idx="9">
                  <c:v>1.74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3A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SIP</c:v>
                </c:pt>
                <c:pt idx="1">
                  <c:v>Lumpsum</c:v>
                </c:pt>
                <c:pt idx="2">
                  <c:v>Redemption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19549</c:v>
                </c:pt>
                <c:pt idx="1">
                  <c:v>8122</c:v>
                </c:pt>
                <c:pt idx="2">
                  <c:v>5107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3yr CAGR %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3A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Axis Midcap</c:v>
                  </c:pt>
                  <c:pt idx="1">
                    <c:v>HDFC Midcap</c:v>
                  </c:pt>
                  <c:pt idx="2">
                    <c:v>ICICI Pru Bluechip</c:v>
                  </c:pt>
                  <c:pt idx="3">
                    <c:v>ICICI Pru Midcap</c:v>
                  </c:pt>
                  <c:pt idx="4">
                    <c:v>Mirae LargeCap</c:v>
                  </c:pt>
                  <c:pt idx="5">
                    <c:v>SBI Bluechip</c:v>
                  </c:pt>
                  <c:pt idx="6">
                    <c:v>Kotak Flexicap</c:v>
                  </c:pt>
                  <c:pt idx="7">
                    <c:v>Mirae Tax Saver</c:v>
                  </c:pt>
                  <c:pt idx="8">
                    <c:v>ABSL Frontline</c:v>
                  </c:pt>
                  <c:pt idx="9">
                    <c:v>SBI SmallCap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35.1</c:v>
                </c:pt>
                <c:pt idx="1">
                  <c:v>32.43</c:v>
                </c:pt>
                <c:pt idx="2">
                  <c:v>32.48</c:v>
                </c:pt>
                <c:pt idx="3">
                  <c:v>31.77</c:v>
                </c:pt>
                <c:pt idx="4">
                  <c:v>33.99</c:v>
                </c:pt>
                <c:pt idx="5">
                  <c:v>30.45</c:v>
                </c:pt>
                <c:pt idx="6">
                  <c:v>29.58</c:v>
                </c:pt>
                <c:pt idx="7">
                  <c:v>29.17</c:v>
                </c:pt>
                <c:pt idx="8">
                  <c:v>28.96</c:v>
                </c:pt>
                <c:pt idx="9">
                  <c:v>26.66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3A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yourself and the project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gap in MF analytics tools in India.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CSV datasets provided by Bluestock Fintech covering all aspects of MF ecosystem.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end-to-end pipeline from raw CSV to Power BI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industry metrics and SIP trend showing 169% growth over 4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Investor demographics and geographic concentration are key insights.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performance metrics across all 40 funds.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Composite scorecard ranks funds across 5 dimensions.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 of Power BI dashboard — Industry Overview with KPI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2 — Fund Performance with scatter plot and scorecard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key findings from the analysis. Emphasize the SIP boom and diversification insights.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GitHub link and thank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35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B3A6B">
              <a:alpha val="4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0"/>
            <a:ext cx="2743200" cy="27432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ADCFC"/>
                </a:solidFill>
              </a:rPr>
              <a:t>BLUESTOCK FINTECH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Project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End-to-End Data Analytics • ETL • EDA • Performance •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Intern: Akshaya Sada  |  Jun 2026  |  Data Analysis Track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</a:rPr>
              <a:t>🔍 The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India has 1,908+ mutual fund schemes across 44 AMCs — investors struggle to compare, analyse, and choose the right funds.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 single platform provides end-to-end analytics combining NAV history, AUM data, investor behaviour, and risk metrics.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1B3A6B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🎯 Our Objective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Build a complete MF analytics platform: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• ETL pipeline ingesting 10 datasets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• SQLite star-schema database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• 15+ EDA charts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• Performance: CAGR, Sharpe, Alpha, VaR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• Interactive Power BI dashboard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• Fund recommender system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106424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106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10332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Fund Master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3075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40 schemes, 15 cols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1883664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1810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NAV History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0848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46,000 rows, 2022–2026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2660904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2587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AUM by Fund House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86207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90 rows, quarterly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" y="3438144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3364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Monthly SIP Inflows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6393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48 months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06908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4215384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0120" y="41422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Category Inflows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4165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144 rows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96012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64608" y="1106424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4864608" y="1106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49240" y="10332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Industry Folio Count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13075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21 quarters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173736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64608" y="1883664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4864608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49240" y="1810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Scheme Performance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9240" y="20848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40 funds, 19 metrics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51460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64608" y="2660904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1" name="Text 39"/>
          <p:cNvSpPr/>
          <p:nvPr/>
        </p:nvSpPr>
        <p:spPr>
          <a:xfrm>
            <a:off x="4864608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49240" y="2587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Investor Transactions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49240" y="286207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32,778 rows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29184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64608" y="3438144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4864608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49240" y="3364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Portfolio Holdings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349240" y="36393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322 rows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406908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64608" y="4215384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1" name="Text 49"/>
          <p:cNvSpPr/>
          <p:nvPr/>
        </p:nvSpPr>
        <p:spPr>
          <a:xfrm>
            <a:off x="4864608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349240" y="41422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Benchmark Indices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349240" y="44165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8,050 rows, 7 indices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Source: AMFI India + mfapi.in + Bluestock Fintech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1600200" cy="1280160"/>
          </a:xfrm>
          <a:prstGeom prst="roundRect">
            <a:avLst>
              <a:gd name="adj" fmla="val 8571"/>
            </a:avLst>
          </a:prstGeom>
          <a:solidFill>
            <a:srgbClr val="1B3A6B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Raw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(10 CSVs + API)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74520" y="1737360"/>
            <a:ext cx="4114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097280"/>
            <a:ext cx="1600200" cy="1280160"/>
          </a:xfrm>
          <a:prstGeom prst="roundRect">
            <a:avLst>
              <a:gd name="adj" fmla="val 8571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10972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ETL Pipeline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(Python)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11880" y="1737360"/>
            <a:ext cx="4114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1097280"/>
            <a:ext cx="1600200" cy="1280160"/>
          </a:xfrm>
          <a:prstGeom prst="roundRect">
            <a:avLst>
              <a:gd name="adj" fmla="val 8571"/>
            </a:avLst>
          </a:prstGeom>
          <a:solidFill>
            <a:srgbClr val="0891B2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10972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SQLite 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(23 tables)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49240" y="1737360"/>
            <a:ext cx="4114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1097280"/>
            <a:ext cx="1600200" cy="1280160"/>
          </a:xfrm>
          <a:prstGeom prst="roundRect">
            <a:avLst>
              <a:gd name="adj" fmla="val 8571"/>
            </a:avLst>
          </a:prstGeom>
          <a:solidFill>
            <a:srgbClr val="16A34A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10972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Analytics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(EDA + Metrics)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86600" y="1737360"/>
            <a:ext cx="4114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1097280"/>
            <a:ext cx="1600200" cy="1280160"/>
          </a:xfrm>
          <a:prstGeom prst="roundRect">
            <a:avLst>
              <a:gd name="adj" fmla="val 8571"/>
            </a:avLst>
          </a:prstGeom>
          <a:solidFill>
            <a:srgbClr val="D97706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10972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(Power BI)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Tech Stack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B3A6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1546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Python 3.13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57400" y="31546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B3A6B"/>
          </a:solidFill>
          <a:ln/>
        </p:spPr>
      </p:sp>
      <p:sp>
        <p:nvSpPr>
          <p:cNvPr id="22" name="Text 20"/>
          <p:cNvSpPr/>
          <p:nvPr/>
        </p:nvSpPr>
        <p:spPr>
          <a:xfrm>
            <a:off x="2057400" y="31546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Pandas / NumPy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49040" y="31546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B3A6B"/>
          </a:solidFill>
          <a:ln/>
        </p:spPr>
      </p:sp>
      <p:sp>
        <p:nvSpPr>
          <p:cNvPr id="24" name="Text 22"/>
          <p:cNvSpPr/>
          <p:nvPr/>
        </p:nvSpPr>
        <p:spPr>
          <a:xfrm>
            <a:off x="3749040" y="31546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SQLAlchemy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40680" y="31546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B3A6B"/>
          </a:solidFill>
          <a:ln/>
        </p:spPr>
      </p:sp>
      <p:sp>
        <p:nvSpPr>
          <p:cNvPr id="26" name="Text 24"/>
          <p:cNvSpPr/>
          <p:nvPr/>
        </p:nvSpPr>
        <p:spPr>
          <a:xfrm>
            <a:off x="5440680" y="31546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Matplotlib / Seaborn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32320" y="31546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B3A6B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0" y="31546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Plotly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70332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B3A6B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703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Scipy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57400" y="370332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B3A6B"/>
          </a:solidFill>
          <a:ln/>
        </p:spPr>
      </p:sp>
      <p:sp>
        <p:nvSpPr>
          <p:cNvPr id="32" name="Text 30"/>
          <p:cNvSpPr/>
          <p:nvPr/>
        </p:nvSpPr>
        <p:spPr>
          <a:xfrm>
            <a:off x="2057400" y="3703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Power BI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49040" y="370332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B3A6B"/>
          </a:solidFill>
          <a:ln/>
        </p:spPr>
      </p:sp>
      <p:sp>
        <p:nvSpPr>
          <p:cNvPr id="34" name="Text 32"/>
          <p:cNvSpPr/>
          <p:nvPr/>
        </p:nvSpPr>
        <p:spPr>
          <a:xfrm>
            <a:off x="3749040" y="3703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Git / GitHub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40680" y="370332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B3A6B"/>
          </a:solidFill>
          <a:ln/>
        </p:spPr>
      </p:sp>
      <p:sp>
        <p:nvSpPr>
          <p:cNvPr id="36" name="Text 34"/>
          <p:cNvSpPr/>
          <p:nvPr/>
        </p:nvSpPr>
        <p:spPr>
          <a:xfrm>
            <a:off x="5440680" y="3703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Jupyter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32320" y="370332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B3A6B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0" y="3703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mfapi.in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Market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1B3A6B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Total AUM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₹62.74L Cr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Dec 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960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SIP ATH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0" y="1280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₹31,002 Cr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Dec 2025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891B2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960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Total Folios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280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26.12 Cr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+97% since 2022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91440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16A34A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960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Schemes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1280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Across 10 AMCs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Monthly SIP Inflow Trend (2022–2025)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65760" y="2651760"/>
          <a:ext cx="8412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Investor Behaviour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AUM by Fund House (₹ L Cr)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8016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Transaction Type Split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754880" y="128016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754880" y="365760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1B3A6B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937760" y="3749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💡 Key Insight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937760" y="40690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26–45 age group drives 55%+ of SIP transactions. T30 cities contribute 70%+ of total inflows.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Analytics — Returns &amp; Risk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3-Year CAGR — Top 10 Funds (%)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80160"/>
          <a:ext cx="8412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Risk Metrics Summary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06908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1371600"/>
                <a:gridCol w="182880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Best Fund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(All 40)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Sharpe Ratio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Mirae Asset Large Cap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1.45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0.88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3yr CAGR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Axis Midcap Fund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35.10%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14.09%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Max Drawdown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ICICI Pru Liquid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-0.07%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-17.87%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VaR 95%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ICICI Pru Liquid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-0.02%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-1.12%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Analytics — Alpha, Beta &amp; Scorecard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🏆 Fund Scorecard — Top 5 (Score out of 100)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1B3A6B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#1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Mirae Asset Large Cap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0" y="13716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CAGR: 33.99%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13716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Sharpe: 1.45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0" y="137160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85.9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029968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299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#2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02996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ICICI Pru Midcap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0299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CAGR: 31.77%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20299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Sharpe: 1.18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202996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81.8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2688336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68833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#3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68833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Kotak Flexicap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268833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CAGR: 29.58%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68833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Sharpe: 1.31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268833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81.5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3346704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34670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#4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334670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HDFC Midcap Opp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334670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CAGR: 32.43%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34670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Sharpe: 1.09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334670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80.3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4005072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00507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#5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" y="400507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ICICI Pru Bluechip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400507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CAGR: 32.48%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400507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Sharpe: 1.03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0" y="40050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79.5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663440"/>
            <a:ext cx="8412480" cy="365760"/>
          </a:xfrm>
          <a:prstGeom prst="roundRect">
            <a:avLst>
              <a:gd name="adj" fmla="val 15000"/>
            </a:avLst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B3A6B"/>
                </a:solidFill>
              </a:rPr>
              <a:t>Formula: 30%×CAGR + 25%×Sharpe + 20%×Alpha + 15%×Expense Ratio (inv.) + 10%×Max Drawdown (inv.)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 — Industry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22960"/>
            <a:ext cx="8412480" cy="3931920"/>
          </a:xfrm>
          <a:prstGeom prst="roundRect">
            <a:avLst>
              <a:gd name="adj" fmla="val 3488"/>
            </a:avLst>
          </a:prstGeom>
          <a:solidFill>
            <a:srgbClr val="1B3A6B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601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Total AUM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₹62.74L Cr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9601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SIP Inflows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0604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₹31,002 Cr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Total Folios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26.12 Cr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9601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Schemes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2084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011680"/>
            <a:ext cx="5029200" cy="2560320"/>
          </a:xfrm>
          <a:prstGeom prst="roundRect">
            <a:avLst>
              <a:gd name="adj" fmla="val 3571"/>
            </a:avLst>
          </a:prstGeom>
          <a:solidFill>
            <a:srgbClr val="0F1B35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103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📈 AUM Trend 2022–2025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0" y="2011680"/>
            <a:ext cx="2834640" cy="2560320"/>
          </a:xfrm>
          <a:prstGeom prst="roundRect">
            <a:avLst>
              <a:gd name="adj" fmla="val 3571"/>
            </a:avLst>
          </a:prstGeom>
          <a:solidFill>
            <a:srgbClr val="0F1B35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2103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🏦 AUM by AMC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Page 1 of 4  •  Power BI Desktop  •  Slicers: Year, Fund House, Category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 — Fund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22960"/>
            <a:ext cx="8412480" cy="3931920"/>
          </a:xfrm>
          <a:prstGeom prst="roundRect">
            <a:avLst>
              <a:gd name="adj" fmla="val 3488"/>
            </a:avLst>
          </a:prstGeom>
          <a:solidFill>
            <a:srgbClr val="1B3A6B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6012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🔽 Fund House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96012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960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🔽 Category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96012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960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🔽 Plan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55448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0F1B35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⚡ Return vs Risk Scatter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(bubble = AUM)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1554480"/>
            <a:ext cx="2834640" cy="2011680"/>
          </a:xfrm>
          <a:prstGeom prst="roundRect">
            <a:avLst>
              <a:gd name="adj" fmla="val 4545"/>
            </a:avLst>
          </a:prstGeom>
          <a:solidFill>
            <a:srgbClr val="0F1B35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📊 Fund Scorecard Table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(sortable)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0F1B35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📈 NAV vs Benchmark Line Chart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Page 2 of 4  •  Drill-through enabled  •  Tooltips on all visuals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SIP Boom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39903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SIP inflows grew 169% from ₹11,517 Cr to ₹31,002 Cr (2022–2025), driven by retail investor awareness.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4924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Top Performer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9240" y="139903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Mirae Asset Large Cap scores 85.9/100 on our composite scorecard with Sharpe 1.45 and 3yr CAGR 34%.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SIP At-Risk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72491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97.8% of investors with 6+ SIPs have avg gap &gt;35 days — indicating widespread SIP irregularity.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28600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492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High Correlation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272491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Large Cap funds show 0.85–0.95 correlation — mixing categories is essential for true diversification.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5156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Direct vs Regular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405079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Direct plans beat Regular plans by 1–2% annually purely due to lower expense ratios.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61188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🏙️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4924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Geographic Gap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405079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Top 3 states (MH, KA, DL) hold 45% of investments. B30 penetration remains a key opportunity.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B3A6B">
              <a:alpha val="5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2331720"/>
            <a:ext cx="27432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14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Bluestock MF Capstone — Complete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108960"/>
            <a:ext cx="6400800" cy="475488"/>
          </a:xfrm>
          <a:prstGeom prst="roundRect">
            <a:avLst>
              <a:gd name="adj" fmla="val 15385"/>
            </a:avLst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310896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GitHub: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310896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github.com/akshayasada38/bluestock-mf-capstone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3703320"/>
            <a:ext cx="6400800" cy="475488"/>
          </a:xfrm>
          <a:prstGeom prst="roundRect">
            <a:avLst>
              <a:gd name="adj" fmla="val 15385"/>
            </a:avLst>
          </a:prstGeom>
          <a:solidFill>
            <a:srgbClr val="1B3A6B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37033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Dataset: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370332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AMFI India + mfapi.in + Bluestock Fintech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4297680"/>
            <a:ext cx="6400800" cy="475488"/>
          </a:xfrm>
          <a:prstGeom prst="roundRect">
            <a:avLst>
              <a:gd name="adj" fmla="val 15385"/>
            </a:avLst>
          </a:prstGeom>
          <a:solidFill>
            <a:srgbClr val="1B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429768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Intern: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429768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Akshaya Sada  |  Data Analysis Track  |  Jun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Capstone</dc:title>
  <dc:subject>PptxGenJS Presentation</dc:subject>
  <dc:creator>Akshaya Sada</dc:creator>
  <cp:lastModifiedBy>Akshaya Sada</cp:lastModifiedBy>
  <cp:revision>1</cp:revision>
  <dcterms:created xsi:type="dcterms:W3CDTF">2026-06-16T04:48:32Z</dcterms:created>
  <dcterms:modified xsi:type="dcterms:W3CDTF">2026-06-16T04:48:32Z</dcterms:modified>
</cp:coreProperties>
</file>